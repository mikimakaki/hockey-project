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91" r:id="rId3"/>
    <p:sldId id="257" r:id="rId4"/>
    <p:sldId id="298" r:id="rId5"/>
    <p:sldId id="289" r:id="rId6"/>
    <p:sldId id="295" r:id="rId7"/>
    <p:sldId id="299" r:id="rId8"/>
    <p:sldId id="292" r:id="rId9"/>
    <p:sldId id="293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C2CE"/>
    <a:srgbClr val="3353A0"/>
    <a:srgbClr val="325BA7"/>
    <a:srgbClr val="5CC1CD"/>
    <a:srgbClr val="3392C3"/>
    <a:srgbClr val="3254A2"/>
    <a:srgbClr val="A6D9DE"/>
    <a:srgbClr val="1B325D"/>
    <a:srgbClr val="334E9D"/>
    <a:srgbClr val="325C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73"/>
    <p:restoredTop sz="96805"/>
  </p:normalViewPr>
  <p:slideViewPr>
    <p:cSldViewPr snapToGrid="0" snapToObjects="1">
      <p:cViewPr varScale="1">
        <p:scale>
          <a:sx n="53" d="100"/>
          <a:sy n="53" d="100"/>
        </p:scale>
        <p:origin x="542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50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17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95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72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978F9-FC86-9269-A519-40838304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E76F0-263B-A0BA-9F67-B19966853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A6A20-95AF-4261-5F3B-CCF2AF10B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B0EAB-313F-0DFF-3E53-3C4D73DA63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86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623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8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3514725"/>
            <a:ext cx="8229600" cy="325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800"/>
              </a:lnSpc>
            </a:pPr>
            <a:r>
              <a:rPr lang="ru-RU" sz="6600" b="1" dirty="0">
                <a:solidFill>
                  <a:srgbClr val="FFFFFF"/>
                </a:solidFill>
                <a:latin typeface="Montserrat SemiBold" pitchFamily="2" charset="0"/>
                <a:ea typeface="Montserrat Medium" pitchFamily="34" charset="-122"/>
                <a:cs typeface="Montserrat Medium" pitchFamily="34" charset="-120"/>
              </a:rPr>
              <a:t>Система автоматического определения взятия ворот в хоккее</a:t>
            </a:r>
          </a:p>
        </p:txBody>
      </p:sp>
      <p:sp>
        <p:nvSpPr>
          <p:cNvPr id="4" name="N"/>
          <p:cNvSpPr/>
          <p:nvPr/>
        </p:nvSpPr>
        <p:spPr>
          <a:xfrm>
            <a:off x="11468100" y="3810000"/>
            <a:ext cx="6553200" cy="21240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kern="0" spc="-75" dirty="0" err="1">
                <a:solidFill>
                  <a:srgbClr val="5CC1CD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Проект</a:t>
            </a:r>
            <a:r>
              <a:rPr lang="en-US" sz="2400" kern="0" spc="-75" dirty="0">
                <a:solidFill>
                  <a:srgbClr val="5CC1CD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2400" kern="0" spc="-75" dirty="0" err="1">
                <a:solidFill>
                  <a:srgbClr val="5CC1CD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выполнил</a:t>
            </a:r>
            <a:r>
              <a:rPr lang="ru-RU" sz="2400" kern="0" spc="-75" dirty="0">
                <a:solidFill>
                  <a:srgbClr val="5CC1CD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:</a:t>
            </a:r>
          </a:p>
          <a:p>
            <a:pPr marL="0" indent="0" algn="l">
              <a:buNone/>
            </a:pPr>
            <a:r>
              <a:rPr lang="en-US" sz="2400" kern="0" spc="-75" dirty="0">
                <a:solidFill>
                  <a:srgbClr val="BDE3FF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
</a:t>
            </a:r>
            <a:r>
              <a:rPr lang="ru-RU" sz="4000" b="1" kern="0" spc="-75" dirty="0">
                <a:solidFill>
                  <a:srgbClr val="325CA8"/>
                </a:solidFill>
                <a:latin typeface="Montserrat" pitchFamily="2" charset="0"/>
                <a:ea typeface="Montserrat Bold" pitchFamily="34" charset="-122"/>
                <a:cs typeface="Montserrat Bold" pitchFamily="34" charset="-120"/>
              </a:rPr>
              <a:t>Мовсесян Микаэл</a:t>
            </a:r>
            <a:r>
              <a:rPr lang="en-US" sz="2400" b="1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ru-RU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Bold" pitchFamily="34" charset="-122"/>
                <a:cs typeface="Montserrat Bold" pitchFamily="34" charset="-120"/>
              </a:rPr>
              <a:t>ГБОУ школа</a:t>
            </a:r>
            <a:r>
              <a:rPr lang="en-US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ru-RU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№2070, 10 Э </a:t>
            </a:r>
            <a:r>
              <a:rPr lang="en-US" sz="2400" kern="0" spc="-75" dirty="0" err="1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класс</a:t>
            </a:r>
            <a:endParaRPr lang="en-US" sz="2400" dirty="0">
              <a:solidFill>
                <a:srgbClr val="325CA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" name="N">
            <a:extLst>
              <a:ext uri="{FF2B5EF4-FFF2-40B4-BE49-F238E27FC236}">
                <a16:creationId xmlns:a16="http://schemas.microsoft.com/office/drawing/2014/main" id="{B0F2CF46-D830-55A1-FE78-DD88F8DC244A}"/>
              </a:ext>
            </a:extLst>
          </p:cNvPr>
          <p:cNvSpPr/>
          <p:nvPr/>
        </p:nvSpPr>
        <p:spPr>
          <a:xfrm>
            <a:off x="11468100" y="6772275"/>
            <a:ext cx="6553200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ru-RU" sz="2400" kern="0" spc="-75" dirty="0">
                <a:solidFill>
                  <a:srgbClr val="5CC1CD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Руководитель проекта:</a:t>
            </a:r>
          </a:p>
          <a:p>
            <a:pPr marL="0" indent="0" algn="l">
              <a:buNone/>
            </a:pPr>
            <a:r>
              <a:rPr lang="en-US" sz="2400" b="1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ru-RU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преподаватель ДТ «Альтаир»</a:t>
            </a:r>
          </a:p>
          <a:p>
            <a:pPr marL="0" indent="0" algn="l">
              <a:buNone/>
            </a:pPr>
            <a:r>
              <a:rPr lang="ru-RU" sz="4000" b="1" kern="0" spc="-75" dirty="0" err="1">
                <a:solidFill>
                  <a:srgbClr val="325CA8"/>
                </a:solidFill>
                <a:latin typeface="Montserrat" pitchFamily="2" charset="0"/>
                <a:ea typeface="Montserrat Bold" pitchFamily="34" charset="-122"/>
                <a:cs typeface="Montserrat Bold" pitchFamily="34" charset="-120"/>
              </a:rPr>
              <a:t>Соваренко</a:t>
            </a:r>
            <a:r>
              <a:rPr lang="ru-RU" sz="4000" b="1" kern="0" spc="-75" dirty="0">
                <a:solidFill>
                  <a:srgbClr val="325CA8"/>
                </a:solidFill>
                <a:latin typeface="Montserrat" pitchFamily="2" charset="0"/>
                <a:ea typeface="Montserrat Bold" pitchFamily="34" charset="-122"/>
                <a:cs typeface="Montserrat Bold" pitchFamily="34" charset="-120"/>
              </a:rPr>
              <a:t> Василий Васильевич</a:t>
            </a:r>
            <a:endParaRPr lang="en-US" sz="4000" b="1" dirty="0">
              <a:solidFill>
                <a:srgbClr val="325CA8"/>
              </a:solidFill>
              <a:latin typeface="Montserrat" pitchFamily="2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641AF4D-2676-BB43-CDE0-AE60586786BD}"/>
              </a:ext>
            </a:extLst>
          </p:cNvPr>
          <p:cNvCxnSpPr>
            <a:cxnSpLocks/>
          </p:cNvCxnSpPr>
          <p:nvPr/>
        </p:nvCxnSpPr>
        <p:spPr>
          <a:xfrm flipH="1">
            <a:off x="11468100" y="4743450"/>
            <a:ext cx="6819900" cy="0"/>
          </a:xfrm>
          <a:prstGeom prst="line">
            <a:avLst/>
          </a:prstGeom>
          <a:ln w="38100">
            <a:solidFill>
              <a:srgbClr val="5CC1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475E1FB-A480-C808-FFD1-74B86A1A6E8A}"/>
              </a:ext>
            </a:extLst>
          </p:cNvPr>
          <p:cNvCxnSpPr>
            <a:cxnSpLocks/>
          </p:cNvCxnSpPr>
          <p:nvPr/>
        </p:nvCxnSpPr>
        <p:spPr>
          <a:xfrm flipH="1">
            <a:off x="11468100" y="7341870"/>
            <a:ext cx="6838950" cy="0"/>
          </a:xfrm>
          <a:prstGeom prst="line">
            <a:avLst/>
          </a:prstGeom>
          <a:ln w="38100">
            <a:solidFill>
              <a:srgbClr val="5CC1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53106" y="2095711"/>
            <a:ext cx="15088380" cy="6075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500"/>
              </a:spcAft>
            </a:pPr>
            <a:r>
              <a:rPr lang="ru-RU" sz="2800" dirty="0">
                <a:latin typeface="Montserrat Medium" pitchFamily="2" charset="0"/>
                <a:ea typeface="Inter Regular" pitchFamily="34" charset="-122"/>
              </a:rPr>
              <a:t>В хоккее часто возникают спорные ситуации при определении взятия ворот.</a:t>
            </a:r>
          </a:p>
          <a:p>
            <a:pPr>
              <a:spcAft>
                <a:spcPts val="4500"/>
              </a:spcAft>
            </a:pPr>
            <a:r>
              <a:rPr lang="ru-RU" sz="2800" dirty="0">
                <a:latin typeface="Montserrat Medium" pitchFamily="2" charset="0"/>
                <a:ea typeface="Inter Regular" pitchFamily="34" charset="-122"/>
              </a:rPr>
              <a:t>Даже при использовании видеоповторов возможны ошибки, связанные с человеческим фактором.</a:t>
            </a:r>
          </a:p>
          <a:p>
            <a:pPr>
              <a:spcAft>
                <a:spcPts val="4500"/>
              </a:spcAft>
            </a:pPr>
            <a:r>
              <a:rPr lang="ru-RU" sz="2800" dirty="0">
                <a:latin typeface="Montserrat Medium" pitchFamily="2" charset="0"/>
                <a:ea typeface="Inter Regular" pitchFamily="34" charset="-122"/>
              </a:rPr>
              <a:t>Автоматические системы фиксации гола позволяют:</a:t>
            </a:r>
          </a:p>
          <a:p>
            <a:pPr>
              <a:spcAft>
                <a:spcPts val="4500"/>
              </a:spcAft>
            </a:pPr>
            <a:r>
              <a:rPr lang="ru-RU" sz="2800" dirty="0">
                <a:latin typeface="Montserrat Medium" pitchFamily="2" charset="0"/>
                <a:ea typeface="Inter Regular" pitchFamily="34" charset="-122"/>
              </a:rPr>
              <a:t> • повысить объективность судейства;</a:t>
            </a:r>
          </a:p>
          <a:p>
            <a:pPr>
              <a:spcAft>
                <a:spcPts val="4500"/>
              </a:spcAft>
            </a:pPr>
            <a:r>
              <a:rPr lang="ru-RU" sz="2800" dirty="0">
                <a:latin typeface="Montserrat Medium" pitchFamily="2" charset="0"/>
                <a:ea typeface="Inter Regular" pitchFamily="34" charset="-122"/>
              </a:rPr>
              <a:t> • снизить влияние человеческого фактора;</a:t>
            </a:r>
          </a:p>
          <a:p>
            <a:pPr>
              <a:spcAft>
                <a:spcPts val="4500"/>
              </a:spcAft>
            </a:pPr>
            <a:r>
              <a:rPr lang="ru-RU" sz="2800" dirty="0">
                <a:latin typeface="Montserrat Medium" pitchFamily="2" charset="0"/>
                <a:ea typeface="Inter Regular" pitchFamily="34" charset="-122"/>
              </a:rPr>
              <a:t> • использовать технологии в обучении и анализе игровых ситуаций.</a:t>
            </a:r>
          </a:p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ru-RU" sz="2800" dirty="0">
                <a:latin typeface="Montserrat Medium" pitchFamily="2" charset="0"/>
                <a:ea typeface="Inter Regular" pitchFamily="34" charset="-122"/>
              </a:rPr>
              <a:t>Проект актуален в условиях развития цифровых технологий в спорте.</a:t>
            </a:r>
          </a:p>
          <a:p>
            <a:pPr marL="0" indent="0" algn="l">
              <a:lnSpc>
                <a:spcPts val="4320"/>
              </a:lnSpc>
              <a:spcAft>
                <a:spcPts val="4500"/>
              </a:spcAft>
              <a:buNone/>
            </a:pPr>
            <a:endParaRPr lang="ru-RU" sz="3200" dirty="0">
              <a:latin typeface="Montserrat Medium" pitchFamily="2" charset="0"/>
              <a:ea typeface="Inter Regular" pitchFamily="34" charset="-122"/>
            </a:endParaRPr>
          </a:p>
          <a:p>
            <a:pPr marL="0" indent="0" algn="l">
              <a:lnSpc>
                <a:spcPts val="4320"/>
              </a:lnSpc>
              <a:spcAft>
                <a:spcPts val="4500"/>
              </a:spcAft>
              <a:buNone/>
            </a:pPr>
            <a:endParaRPr lang="ru-RU" sz="3200" dirty="0">
              <a:latin typeface="Montserrat Medium" pitchFamily="2" charset="0"/>
              <a:ea typeface="Inter Regular" pitchFamily="34" charset="-122"/>
            </a:endParaRPr>
          </a:p>
          <a:p>
            <a:pPr>
              <a:lnSpc>
                <a:spcPts val="4320"/>
              </a:lnSpc>
              <a:spcAft>
                <a:spcPts val="4500"/>
              </a:spcAft>
            </a:pPr>
            <a:endParaRPr lang="ru-RU" sz="3200" dirty="0">
              <a:latin typeface="Montserrat Medium" pitchFamily="2" charset="0"/>
              <a:ea typeface="Inter Regular" pitchFamily="34" charset="-122"/>
            </a:endParaRPr>
          </a:p>
          <a:p>
            <a:pPr marL="0" indent="0" algn="l">
              <a:lnSpc>
                <a:spcPts val="4320"/>
              </a:lnSpc>
              <a:spcAft>
                <a:spcPts val="4500"/>
              </a:spcAft>
              <a:buNone/>
            </a:pPr>
            <a:endParaRPr lang="ru-RU" sz="3200" dirty="0">
              <a:latin typeface="Montserrat Medium" pitchFamily="2" charset="0"/>
              <a:ea typeface="Inter Regular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24712-0EA9-7230-BBFF-BF4C8584B939}"/>
              </a:ext>
            </a:extLst>
          </p:cNvPr>
          <p:cNvSpPr txBox="1"/>
          <p:nvPr/>
        </p:nvSpPr>
        <p:spPr>
          <a:xfrm>
            <a:off x="17833588" y="9719150"/>
            <a:ext cx="37542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2</a:t>
            </a: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EFB5B0C-600F-1AD2-616C-FB85510E1778}"/>
              </a:ext>
            </a:extLst>
          </p:cNvPr>
          <p:cNvSpPr/>
          <p:nvPr/>
        </p:nvSpPr>
        <p:spPr>
          <a:xfrm>
            <a:off x="-1579418" y="619260"/>
            <a:ext cx="10723418" cy="1375128"/>
          </a:xfrm>
          <a:prstGeom prst="roundRect">
            <a:avLst/>
          </a:prstGeom>
          <a:gradFill>
            <a:gsLst>
              <a:gs pos="50000">
                <a:srgbClr val="3392C3"/>
              </a:gs>
              <a:gs pos="0">
                <a:srgbClr val="3353A0"/>
              </a:gs>
              <a:gs pos="100000">
                <a:srgbClr val="A6D9D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default_name">
            <a:extLst>
              <a:ext uri="{FF2B5EF4-FFF2-40B4-BE49-F238E27FC236}">
                <a16:creationId xmlns:a16="http://schemas.microsoft.com/office/drawing/2014/main" id="{A1B1306D-486A-265A-FCCE-E8CA9828E195}"/>
              </a:ext>
            </a:extLst>
          </p:cNvPr>
          <p:cNvSpPr/>
          <p:nvPr/>
        </p:nvSpPr>
        <p:spPr>
          <a:xfrm>
            <a:off x="1143000" y="720583"/>
            <a:ext cx="8188036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7200" b="1" dirty="0">
                <a:solidFill>
                  <a:schemeClr val="bg1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Актуальность</a:t>
            </a:r>
            <a:endParaRPr lang="en-US" sz="72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442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6E876501-8729-5F84-A1CE-5FD9F45F5E01}"/>
              </a:ext>
            </a:extLst>
          </p:cNvPr>
          <p:cNvSpPr/>
          <p:nvPr/>
        </p:nvSpPr>
        <p:spPr>
          <a:xfrm>
            <a:off x="-375138" y="1194858"/>
            <a:ext cx="5244320" cy="1375128"/>
          </a:xfrm>
          <a:prstGeom prst="roundRect">
            <a:avLst/>
          </a:prstGeom>
          <a:gradFill>
            <a:gsLst>
              <a:gs pos="50000">
                <a:srgbClr val="3392C3"/>
              </a:gs>
              <a:gs pos="0">
                <a:srgbClr val="3353A0"/>
              </a:gs>
              <a:gs pos="100000">
                <a:srgbClr val="A6D9D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 1"/>
          <p:cNvSpPr/>
          <p:nvPr/>
        </p:nvSpPr>
        <p:spPr>
          <a:xfrm>
            <a:off x="807718" y="3708283"/>
            <a:ext cx="7212331" cy="3793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Разработка программной системы автоматического определения взятия ворот в хоккее на основе моделирования движения шайбы.</a:t>
            </a:r>
          </a:p>
        </p:txBody>
      </p:sp>
      <p:sp>
        <p:nvSpPr>
          <p:cNvPr id="5" name="default_name"/>
          <p:cNvSpPr/>
          <p:nvPr/>
        </p:nvSpPr>
        <p:spPr>
          <a:xfrm>
            <a:off x="9932670" y="1393986"/>
            <a:ext cx="66865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0"/>
              </a:lnSpc>
              <a:buNone/>
            </a:pPr>
            <a:r>
              <a:rPr lang="en-US" sz="54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Задачи</a:t>
            </a:r>
            <a:endParaRPr lang="en-US" sz="6750" b="1" dirty="0">
              <a:solidFill>
                <a:srgbClr val="325CA8"/>
              </a:solidFill>
              <a:latin typeface="Montserrat" pitchFamily="2" charset="0"/>
            </a:endParaRPr>
          </a:p>
        </p:txBody>
      </p:sp>
      <p:sp>
        <p:nvSpPr>
          <p:cNvPr id="13" name="default_name">
            <a:extLst>
              <a:ext uri="{FF2B5EF4-FFF2-40B4-BE49-F238E27FC236}">
                <a16:creationId xmlns:a16="http://schemas.microsoft.com/office/drawing/2014/main" id="{20AB499D-F4C5-CF41-20F6-660F6B0965C3}"/>
              </a:ext>
            </a:extLst>
          </p:cNvPr>
          <p:cNvSpPr/>
          <p:nvPr/>
        </p:nvSpPr>
        <p:spPr>
          <a:xfrm>
            <a:off x="1143000" y="1393986"/>
            <a:ext cx="2661053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0"/>
              </a:lnSpc>
              <a:buNone/>
            </a:pPr>
            <a:r>
              <a:rPr lang="ru-RU" sz="7200" b="1" dirty="0">
                <a:solidFill>
                  <a:schemeClr val="bg1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Цель</a:t>
            </a:r>
            <a:endParaRPr lang="en-US" sz="72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91D0D79B-1857-CDD7-DD91-22F178FFBD3C}"/>
              </a:ext>
            </a:extLst>
          </p:cNvPr>
          <p:cNvSpPr/>
          <p:nvPr/>
        </p:nvSpPr>
        <p:spPr>
          <a:xfrm>
            <a:off x="9932670" y="2803032"/>
            <a:ext cx="6877050" cy="3946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4320"/>
              </a:lnSpc>
              <a:spcAft>
                <a:spcPts val="1200"/>
              </a:spcAft>
              <a:buAutoNum type="arabicPeriod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изучить физические законы движения шайбы;</a:t>
            </a:r>
          </a:p>
          <a:p>
            <a:pPr marL="514350" indent="-514350">
              <a:lnSpc>
                <a:spcPts val="4320"/>
              </a:lnSpc>
              <a:spcAft>
                <a:spcPts val="1200"/>
              </a:spcAft>
              <a:buAutoNum type="arabicPeriod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разработать математическую модель полёта и скольжения шайбы;</a:t>
            </a:r>
          </a:p>
          <a:p>
            <a:pPr marL="514350" indent="-514350">
              <a:lnSpc>
                <a:spcPts val="4320"/>
              </a:lnSpc>
              <a:spcAft>
                <a:spcPts val="1200"/>
              </a:spcAft>
              <a:buAutoNum type="arabicPeriod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реализовать визуализацию движения шайбы в двух ракурсах;</a:t>
            </a:r>
          </a:p>
          <a:p>
            <a:pPr marL="514350" indent="-514350">
              <a:lnSpc>
                <a:spcPts val="4320"/>
              </a:lnSpc>
              <a:spcAft>
                <a:spcPts val="1200"/>
              </a:spcAft>
              <a:buAutoNum type="arabicPeriod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создать алгоритм определения гола, промаха и недолёта;</a:t>
            </a:r>
          </a:p>
          <a:p>
            <a:pPr marL="514350" indent="-514350">
              <a:lnSpc>
                <a:spcPts val="4320"/>
              </a:lnSpc>
              <a:spcAft>
                <a:spcPts val="1200"/>
              </a:spcAft>
              <a:buAutoNum type="arabicPeriod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проанализировать результаты моделирования.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897A11-FFCA-7491-D6DF-B1CA535F56E3}"/>
              </a:ext>
            </a:extLst>
          </p:cNvPr>
          <p:cNvSpPr txBox="1"/>
          <p:nvPr/>
        </p:nvSpPr>
        <p:spPr>
          <a:xfrm>
            <a:off x="17833588" y="9719150"/>
            <a:ext cx="37542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3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B90573D-6CD5-9CC4-6E0F-BFD99EA3B873}"/>
              </a:ext>
            </a:extLst>
          </p:cNvPr>
          <p:cNvSpPr/>
          <p:nvPr/>
        </p:nvSpPr>
        <p:spPr>
          <a:xfrm>
            <a:off x="9845646" y="2459458"/>
            <a:ext cx="8654110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5824712-0EA9-7230-BBFF-BF4C8584B939}"/>
              </a:ext>
            </a:extLst>
          </p:cNvPr>
          <p:cNvSpPr txBox="1"/>
          <p:nvPr/>
        </p:nvSpPr>
        <p:spPr>
          <a:xfrm>
            <a:off x="17833588" y="9719150"/>
            <a:ext cx="40748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4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C0D4DEC-489B-3F72-53A0-0ECE9B786E6E}"/>
              </a:ext>
            </a:extLst>
          </p:cNvPr>
          <p:cNvSpPr/>
          <p:nvPr/>
        </p:nvSpPr>
        <p:spPr>
          <a:xfrm>
            <a:off x="720969" y="4332502"/>
            <a:ext cx="16331355" cy="4842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ru-RU" sz="3200" dirty="0">
                <a:latin typeface="Montserrat Medium" pitchFamily="2" charset="0"/>
                <a:ea typeface="Inter Regular" pitchFamily="34" charset="-122"/>
              </a:rPr>
              <a:t>Для решения поставленных задач были выполнены следующие этапы:</a:t>
            </a:r>
          </a:p>
          <a:p>
            <a:pPr>
              <a:lnSpc>
                <a:spcPts val="4320"/>
              </a:lnSpc>
            </a:pPr>
            <a:r>
              <a:rPr lang="ru-RU" sz="3200" dirty="0">
                <a:latin typeface="Montserrat Medium" pitchFamily="2" charset="0"/>
                <a:ea typeface="Inter Regular" pitchFamily="34" charset="-122"/>
              </a:rPr>
              <a:t> 1. Анализ предметной области и изучение физических законов.</a:t>
            </a:r>
          </a:p>
          <a:p>
            <a:pPr>
              <a:lnSpc>
                <a:spcPts val="4320"/>
              </a:lnSpc>
            </a:pPr>
            <a:r>
              <a:rPr lang="ru-RU" sz="3200" dirty="0">
                <a:latin typeface="Montserrat Medium" pitchFamily="2" charset="0"/>
                <a:ea typeface="Inter Regular" pitchFamily="34" charset="-122"/>
              </a:rPr>
              <a:t> 2. Разработка математической модели движения шайбы.</a:t>
            </a:r>
          </a:p>
          <a:p>
            <a:pPr>
              <a:lnSpc>
                <a:spcPts val="4320"/>
              </a:lnSpc>
            </a:pPr>
            <a:r>
              <a:rPr lang="ru-RU" sz="3200" dirty="0">
                <a:latin typeface="Montserrat Medium" pitchFamily="2" charset="0"/>
                <a:ea typeface="Inter Regular" pitchFamily="34" charset="-122"/>
              </a:rPr>
              <a:t> 3. Программная реализация модели.</a:t>
            </a:r>
          </a:p>
          <a:p>
            <a:pPr>
              <a:lnSpc>
                <a:spcPts val="4320"/>
              </a:lnSpc>
            </a:pPr>
            <a:r>
              <a:rPr lang="ru-RU" sz="3200" dirty="0">
                <a:latin typeface="Montserrat Medium" pitchFamily="2" charset="0"/>
                <a:ea typeface="Inter Regular" pitchFamily="34" charset="-122"/>
              </a:rPr>
              <a:t> 4. Создание графического интерфейса.</a:t>
            </a:r>
          </a:p>
          <a:p>
            <a:pPr>
              <a:lnSpc>
                <a:spcPts val="4320"/>
              </a:lnSpc>
            </a:pPr>
            <a:r>
              <a:rPr lang="ru-RU" sz="3200" dirty="0">
                <a:latin typeface="Montserrat Medium" pitchFamily="2" charset="0"/>
                <a:ea typeface="Inter Regular" pitchFamily="34" charset="-122"/>
              </a:rPr>
              <a:t> 5. Тестирование и анализ результатов работы программы.</a:t>
            </a:r>
          </a:p>
          <a:p>
            <a:pPr>
              <a:lnSpc>
                <a:spcPts val="4320"/>
              </a:lnSpc>
            </a:pPr>
            <a:r>
              <a:rPr lang="ru-RU" sz="3200" dirty="0">
                <a:latin typeface="Montserrat Medium" pitchFamily="2" charset="0"/>
                <a:ea typeface="Inter Regular" pitchFamily="34" charset="-122"/>
              </a:rPr>
              <a:t>Работа выполнялась с использованием методов математического и компьютерного моделирования.</a:t>
            </a:r>
          </a:p>
        </p:txBody>
      </p:sp>
      <p:sp>
        <p:nvSpPr>
          <p:cNvPr id="10" name="default_name">
            <a:extLst>
              <a:ext uri="{FF2B5EF4-FFF2-40B4-BE49-F238E27FC236}">
                <a16:creationId xmlns:a16="http://schemas.microsoft.com/office/drawing/2014/main" id="{C1C3407A-B156-A844-465E-3BD663092D63}"/>
              </a:ext>
            </a:extLst>
          </p:cNvPr>
          <p:cNvSpPr/>
          <p:nvPr/>
        </p:nvSpPr>
        <p:spPr>
          <a:xfrm>
            <a:off x="1143000" y="862123"/>
            <a:ext cx="10383982" cy="213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7200" b="1" dirty="0">
                <a:solidFill>
                  <a:srgbClr val="325BA7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Методика</a:t>
            </a:r>
          </a:p>
          <a:p>
            <a:pPr marL="0" indent="0" algn="l">
              <a:buNone/>
            </a:pPr>
            <a:r>
              <a:rPr lang="ru-RU" sz="7200" b="1" dirty="0">
                <a:solidFill>
                  <a:srgbClr val="325BA7"/>
                </a:solidFill>
                <a:latin typeface="Montserrat" pitchFamily="2" charset="0"/>
                <a:ea typeface="Inter Medium" pitchFamily="34" charset="-122"/>
              </a:rPr>
              <a:t>выполнения работы</a:t>
            </a:r>
            <a:endParaRPr lang="en-US" sz="7200" b="1" dirty="0">
              <a:solidFill>
                <a:srgbClr val="325BA7"/>
              </a:solidFill>
              <a:latin typeface="Montserrat" pitchFamily="2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8FCC50C-D4DE-1FA6-AAA9-76A93D8B4AB7}"/>
              </a:ext>
            </a:extLst>
          </p:cNvPr>
          <p:cNvSpPr/>
          <p:nvPr/>
        </p:nvSpPr>
        <p:spPr>
          <a:xfrm>
            <a:off x="-1" y="3188111"/>
            <a:ext cx="12671426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6063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43000" y="2584070"/>
            <a:ext cx="6877050" cy="1685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Персональный компьютер</a:t>
            </a:r>
            <a:endParaRPr lang="en-US" sz="3200" dirty="0">
              <a:latin typeface="Montserrat Medium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845646" y="3268764"/>
            <a:ext cx="7604154" cy="277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Язык программирования </a:t>
            </a:r>
            <a:r>
              <a:rPr lang="en-US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Python;</a:t>
            </a:r>
          </a:p>
          <a:p>
            <a:pPr>
              <a:lnSpc>
                <a:spcPts val="4320"/>
              </a:lnSpc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Библиотека </a:t>
            </a:r>
            <a:r>
              <a:rPr lang="en-US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PyQt6;</a:t>
            </a:r>
          </a:p>
          <a:p>
            <a:pPr>
              <a:lnSpc>
                <a:spcPts val="4320"/>
              </a:lnSpc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Среда разработки </a:t>
            </a:r>
            <a:r>
              <a:rPr lang="en-US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PyCharm.
</a:t>
            </a:r>
            <a:endParaRPr lang="en-US" sz="3200" dirty="0">
              <a:latin typeface="Montserrat Medium" pitchFamily="2" charset="0"/>
            </a:endParaRPr>
          </a:p>
        </p:txBody>
      </p:sp>
      <p:sp>
        <p:nvSpPr>
          <p:cNvPr id="8" name="default_name">
            <a:extLst>
              <a:ext uri="{FF2B5EF4-FFF2-40B4-BE49-F238E27FC236}">
                <a16:creationId xmlns:a16="http://schemas.microsoft.com/office/drawing/2014/main" id="{F4F9021D-26B4-4C3E-AD42-ECA7B33EDC81}"/>
              </a:ext>
            </a:extLst>
          </p:cNvPr>
          <p:cNvSpPr/>
          <p:nvPr/>
        </p:nvSpPr>
        <p:spPr>
          <a:xfrm>
            <a:off x="9932670" y="1182460"/>
            <a:ext cx="6686550" cy="137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4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Программное Обеспечение</a:t>
            </a:r>
            <a:endParaRPr lang="en-US" sz="6000" b="1" dirty="0">
              <a:solidFill>
                <a:srgbClr val="325CA8"/>
              </a:solidFill>
              <a:latin typeface="Montserrat" pitchFamily="2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BC2E7781-1A4C-54EF-01CB-4CC4B60F1D42}"/>
              </a:ext>
            </a:extLst>
          </p:cNvPr>
          <p:cNvCxnSpPr>
            <a:cxnSpLocks/>
          </p:cNvCxnSpPr>
          <p:nvPr/>
        </p:nvCxnSpPr>
        <p:spPr>
          <a:xfrm>
            <a:off x="9932670" y="2627714"/>
            <a:ext cx="4593821" cy="0"/>
          </a:xfrm>
          <a:prstGeom prst="line">
            <a:avLst/>
          </a:prstGeom>
          <a:ln w="38100">
            <a:solidFill>
              <a:srgbClr val="5CC1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efault_name">
            <a:extLst>
              <a:ext uri="{FF2B5EF4-FFF2-40B4-BE49-F238E27FC236}">
                <a16:creationId xmlns:a16="http://schemas.microsoft.com/office/drawing/2014/main" id="{60D82716-C3C1-B1FB-DFC7-B89C6138BA54}"/>
              </a:ext>
            </a:extLst>
          </p:cNvPr>
          <p:cNvSpPr/>
          <p:nvPr/>
        </p:nvSpPr>
        <p:spPr>
          <a:xfrm>
            <a:off x="1143000" y="1046190"/>
            <a:ext cx="6686550" cy="71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4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</a:rPr>
              <a:t>Оборудование</a:t>
            </a:r>
            <a:endParaRPr lang="en-US" sz="4400" b="1" dirty="0">
              <a:solidFill>
                <a:srgbClr val="325CA8"/>
              </a:solidFill>
              <a:latin typeface="Montserrat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B065E8-512C-C3A1-C5E1-E54B6AAEDC0B}"/>
              </a:ext>
            </a:extLst>
          </p:cNvPr>
          <p:cNvSpPr txBox="1"/>
          <p:nvPr/>
        </p:nvSpPr>
        <p:spPr>
          <a:xfrm>
            <a:off x="17833588" y="9719150"/>
            <a:ext cx="37542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5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135EF2-7E09-74F8-0435-507B7AA9F347}"/>
              </a:ext>
            </a:extLst>
          </p:cNvPr>
          <p:cNvSpPr/>
          <p:nvPr/>
        </p:nvSpPr>
        <p:spPr>
          <a:xfrm>
            <a:off x="9845646" y="2584070"/>
            <a:ext cx="8442354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0AFF9DA-9463-F30A-A67E-09484A143D20}"/>
              </a:ext>
            </a:extLst>
          </p:cNvPr>
          <p:cNvSpPr/>
          <p:nvPr/>
        </p:nvSpPr>
        <p:spPr>
          <a:xfrm rot="10800000">
            <a:off x="0" y="1870025"/>
            <a:ext cx="8654110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88E45B-30D3-6D14-8781-96FE1C21A107}"/>
              </a:ext>
            </a:extLst>
          </p:cNvPr>
          <p:cNvSpPr txBox="1"/>
          <p:nvPr/>
        </p:nvSpPr>
        <p:spPr>
          <a:xfrm>
            <a:off x="2171176" y="8888153"/>
            <a:ext cx="139045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Montserrat Medium" panose="00000600000000000000" pitchFamily="2" charset="-52"/>
              </a:rPr>
              <a:t>Используемые инструменты позволили реализовать интерактивную визуализацию и расчёты движения шайбы.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1EB256B9-FAD4-D849-36FC-7D7912D56587}"/>
              </a:ext>
            </a:extLst>
          </p:cNvPr>
          <p:cNvSpPr/>
          <p:nvPr/>
        </p:nvSpPr>
        <p:spPr>
          <a:xfrm>
            <a:off x="-921096" y="619260"/>
            <a:ext cx="8434005" cy="1375128"/>
          </a:xfrm>
          <a:prstGeom prst="roundRect">
            <a:avLst/>
          </a:prstGeom>
          <a:gradFill>
            <a:gsLst>
              <a:gs pos="50000">
                <a:srgbClr val="3392C3"/>
              </a:gs>
              <a:gs pos="0">
                <a:srgbClr val="3353A0"/>
              </a:gs>
              <a:gs pos="100000">
                <a:srgbClr val="A6D9D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 1"/>
          <p:cNvSpPr/>
          <p:nvPr/>
        </p:nvSpPr>
        <p:spPr>
          <a:xfrm>
            <a:off x="1712344" y="3025524"/>
            <a:ext cx="15265016" cy="6540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  <a:spcAft>
                <a:spcPts val="6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В результате работы была создана программа, которая:</a:t>
            </a:r>
          </a:p>
          <a:p>
            <a:pPr>
              <a:lnSpc>
                <a:spcPts val="4320"/>
              </a:lnSpc>
              <a:spcAft>
                <a:spcPts val="6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• моделирует полёт и скольжение шайбы;</a:t>
            </a:r>
          </a:p>
          <a:p>
            <a:pPr>
              <a:lnSpc>
                <a:spcPts val="4320"/>
              </a:lnSpc>
              <a:spcAft>
                <a:spcPts val="6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• учитывает силу тяжести и силу трения;</a:t>
            </a:r>
          </a:p>
          <a:p>
            <a:pPr>
              <a:lnSpc>
                <a:spcPts val="4320"/>
              </a:lnSpc>
              <a:spcAft>
                <a:spcPts val="6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• отображает движение шайбы в двух ракурсах;</a:t>
            </a:r>
          </a:p>
          <a:p>
            <a:pPr>
              <a:lnSpc>
                <a:spcPts val="4320"/>
              </a:lnSpc>
              <a:spcAft>
                <a:spcPts val="6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• автоматически определяет результат броска (гол, мимо, недолёт).</a:t>
            </a:r>
          </a:p>
          <a:p>
            <a:pPr>
              <a:lnSpc>
                <a:spcPts val="4320"/>
              </a:lnSpc>
              <a:spcAft>
                <a:spcPts val="6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Программа корректно определяет момент пересечения шайбой линии ворот.</a:t>
            </a:r>
            <a:endParaRPr lang="en-US" sz="3200" dirty="0">
              <a:latin typeface="Montserrat Medium" pitchFamily="2" charset="0"/>
            </a:endParaRPr>
          </a:p>
        </p:txBody>
      </p:sp>
      <p:sp>
        <p:nvSpPr>
          <p:cNvPr id="11" name="default_name">
            <a:extLst>
              <a:ext uri="{FF2B5EF4-FFF2-40B4-BE49-F238E27FC236}">
                <a16:creationId xmlns:a16="http://schemas.microsoft.com/office/drawing/2014/main" id="{60D82716-C3C1-B1FB-DFC7-B89C6138BA54}"/>
              </a:ext>
            </a:extLst>
          </p:cNvPr>
          <p:cNvSpPr/>
          <p:nvPr/>
        </p:nvSpPr>
        <p:spPr>
          <a:xfrm>
            <a:off x="1143000" y="720583"/>
            <a:ext cx="6048632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7200" b="1" dirty="0">
                <a:solidFill>
                  <a:schemeClr val="bg1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Результаты</a:t>
            </a:r>
            <a:endParaRPr lang="en-US" sz="72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EDA4511-9628-AA5C-7595-0DCADBAEE5A1}"/>
              </a:ext>
            </a:extLst>
          </p:cNvPr>
          <p:cNvSpPr/>
          <p:nvPr/>
        </p:nvSpPr>
        <p:spPr>
          <a:xfrm rot="16200000">
            <a:off x="-1952364" y="6252151"/>
            <a:ext cx="6391536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2399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E9919-4C14-173A-1224-D0C90529A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9BFF2613-81A2-61F1-5F06-A6A8D5E52E63}"/>
              </a:ext>
            </a:extLst>
          </p:cNvPr>
          <p:cNvSpPr/>
          <p:nvPr/>
        </p:nvSpPr>
        <p:spPr>
          <a:xfrm>
            <a:off x="-921096" y="619260"/>
            <a:ext cx="8434005" cy="1375128"/>
          </a:xfrm>
          <a:prstGeom prst="roundRect">
            <a:avLst/>
          </a:prstGeom>
          <a:gradFill>
            <a:gsLst>
              <a:gs pos="50000">
                <a:srgbClr val="3392C3"/>
              </a:gs>
              <a:gs pos="0">
                <a:srgbClr val="3353A0"/>
              </a:gs>
              <a:gs pos="100000">
                <a:srgbClr val="A6D9D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7E88F92-212F-77EB-3020-DE5D53441FCB}"/>
              </a:ext>
            </a:extLst>
          </p:cNvPr>
          <p:cNvSpPr/>
          <p:nvPr/>
        </p:nvSpPr>
        <p:spPr>
          <a:xfrm>
            <a:off x="752338" y="2949644"/>
            <a:ext cx="13521141" cy="438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• поставленная цель проекта достигнута;</a:t>
            </a:r>
          </a:p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• разработанная система корректно моделирует движение шайбы;</a:t>
            </a:r>
          </a:p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• автоматическое определение гола возможно с помощью программных методов.</a:t>
            </a:r>
          </a:p>
        </p:txBody>
      </p:sp>
      <p:sp>
        <p:nvSpPr>
          <p:cNvPr id="11" name="default_name">
            <a:extLst>
              <a:ext uri="{FF2B5EF4-FFF2-40B4-BE49-F238E27FC236}">
                <a16:creationId xmlns:a16="http://schemas.microsoft.com/office/drawing/2014/main" id="{17CDB05C-3A36-6569-119F-547C4BFB039A}"/>
              </a:ext>
            </a:extLst>
          </p:cNvPr>
          <p:cNvSpPr/>
          <p:nvPr/>
        </p:nvSpPr>
        <p:spPr>
          <a:xfrm>
            <a:off x="1143000" y="720583"/>
            <a:ext cx="6048632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7200" b="1" dirty="0">
                <a:solidFill>
                  <a:schemeClr val="bg1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Выводы</a:t>
            </a:r>
            <a:endParaRPr lang="en-US" sz="72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BBAD32-E548-3213-8245-5873639A20A2}"/>
              </a:ext>
            </a:extLst>
          </p:cNvPr>
          <p:cNvSpPr txBox="1"/>
          <p:nvPr/>
        </p:nvSpPr>
        <p:spPr>
          <a:xfrm>
            <a:off x="17833588" y="9719150"/>
            <a:ext cx="38985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82135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efault_name">
            <a:extLst>
              <a:ext uri="{FF2B5EF4-FFF2-40B4-BE49-F238E27FC236}">
                <a16:creationId xmlns:a16="http://schemas.microsoft.com/office/drawing/2014/main" id="{20AB499D-F4C5-CF41-20F6-660F6B0965C3}"/>
              </a:ext>
            </a:extLst>
          </p:cNvPr>
          <p:cNvSpPr/>
          <p:nvPr/>
        </p:nvSpPr>
        <p:spPr>
          <a:xfrm>
            <a:off x="1143000" y="862123"/>
            <a:ext cx="9137074" cy="213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0"/>
              </a:lnSpc>
              <a:buNone/>
            </a:pPr>
            <a:r>
              <a:rPr lang="ru-RU" sz="72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Дальнейшее</a:t>
            </a:r>
            <a:br>
              <a:rPr lang="ru-RU" sz="72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</a:br>
            <a:r>
              <a:rPr lang="ru-RU" sz="72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развитие проекта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11FFDC6-489F-ED73-DBE3-CC0346A135FB}"/>
              </a:ext>
            </a:extLst>
          </p:cNvPr>
          <p:cNvSpPr/>
          <p:nvPr/>
        </p:nvSpPr>
        <p:spPr>
          <a:xfrm>
            <a:off x="1142999" y="4082268"/>
            <a:ext cx="9217763" cy="5769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20"/>
              </a:lnSpc>
              <a:spcAft>
                <a:spcPts val="4500"/>
              </a:spcAft>
              <a:buNone/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В дальнейшем планируется создание реального макета, который фиксирует взятие ворот с помощью инфракрасных датчиков, находящихся в воротах </a:t>
            </a:r>
            <a:endParaRPr lang="en-US" sz="3200" dirty="0">
              <a:latin typeface="Montserrat Medium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EBB3B-A72E-A4E1-CDA6-6CDB0C4F6C00}"/>
              </a:ext>
            </a:extLst>
          </p:cNvPr>
          <p:cNvSpPr txBox="1"/>
          <p:nvPr/>
        </p:nvSpPr>
        <p:spPr>
          <a:xfrm>
            <a:off x="17833588" y="9719150"/>
            <a:ext cx="38343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7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7BFC304-A295-7533-DE74-D73D622B72BF}"/>
              </a:ext>
            </a:extLst>
          </p:cNvPr>
          <p:cNvSpPr/>
          <p:nvPr/>
        </p:nvSpPr>
        <p:spPr>
          <a:xfrm>
            <a:off x="-1" y="3188111"/>
            <a:ext cx="12023726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0856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11FFDC6-489F-ED73-DBE3-CC0346A135FB}"/>
              </a:ext>
            </a:extLst>
          </p:cNvPr>
          <p:cNvSpPr/>
          <p:nvPr/>
        </p:nvSpPr>
        <p:spPr>
          <a:xfrm>
            <a:off x="1142999" y="3949602"/>
            <a:ext cx="16573499" cy="5769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1. Сивухин Д. В. Общий курс физики. Механика.</a:t>
            </a:r>
          </a:p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2. Ландау Л. Д., Лифшиц Е. М. Теоретическая физика.</a:t>
            </a:r>
          </a:p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3. Голубев А. А. Программирование на Python.</a:t>
            </a:r>
          </a:p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4. Официальная документация Python — https://docs.python.org</a:t>
            </a:r>
          </a:p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ru-RU" sz="32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5. Документация PyQt6 — https://riverbankcomputing.com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5F940D-5D97-82F3-C35D-12FE21C1F6B2}"/>
              </a:ext>
            </a:extLst>
          </p:cNvPr>
          <p:cNvSpPr txBox="1"/>
          <p:nvPr/>
        </p:nvSpPr>
        <p:spPr>
          <a:xfrm>
            <a:off x="17833588" y="9719150"/>
            <a:ext cx="39946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8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8D58500-7556-013B-2FA3-57B2D8DF7BBA}"/>
              </a:ext>
            </a:extLst>
          </p:cNvPr>
          <p:cNvSpPr/>
          <p:nvPr/>
        </p:nvSpPr>
        <p:spPr>
          <a:xfrm>
            <a:off x="-2" y="3188111"/>
            <a:ext cx="14484351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default_name">
            <a:extLst>
              <a:ext uri="{FF2B5EF4-FFF2-40B4-BE49-F238E27FC236}">
                <a16:creationId xmlns:a16="http://schemas.microsoft.com/office/drawing/2014/main" id="{E7368BFF-419B-DF09-6F52-1A78D673C90A}"/>
              </a:ext>
            </a:extLst>
          </p:cNvPr>
          <p:cNvSpPr/>
          <p:nvPr/>
        </p:nvSpPr>
        <p:spPr>
          <a:xfrm>
            <a:off x="1142999" y="862123"/>
            <a:ext cx="12656127" cy="213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72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Список использованных источников</a:t>
            </a:r>
          </a:p>
        </p:txBody>
      </p:sp>
    </p:spTree>
    <p:extLst>
      <p:ext uri="{BB962C8B-B14F-4D97-AF65-F5344CB8AC3E}">
        <p14:creationId xmlns:p14="http://schemas.microsoft.com/office/powerpoint/2010/main" val="1451898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11967</TotalTime>
  <Words>438</Words>
  <Application>Microsoft Office PowerPoint</Application>
  <PresentationFormat>Произвольный</PresentationFormat>
  <Paragraphs>75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Montserrat</vt:lpstr>
      <vt:lpstr>Montserrat Medium</vt:lpstr>
      <vt:lpstr>Montserrat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Mik Movsesian</cp:lastModifiedBy>
  <cp:revision>12</cp:revision>
  <dcterms:created xsi:type="dcterms:W3CDTF">2025-01-14T09:23:53Z</dcterms:created>
  <dcterms:modified xsi:type="dcterms:W3CDTF">2026-01-28T21:54:33Z</dcterms:modified>
</cp:coreProperties>
</file>